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168" r:id="rId4"/>
  </p:sldMasterIdLst>
  <p:notesMasterIdLst>
    <p:notesMasterId r:id="rId16"/>
  </p:notesMasterIdLst>
  <p:handoutMasterIdLst>
    <p:handoutMasterId r:id="rId17"/>
  </p:handoutMasterIdLst>
  <p:sldIdLst>
    <p:sldId id="329" r:id="rId5"/>
    <p:sldId id="330" r:id="rId6"/>
    <p:sldId id="339" r:id="rId7"/>
    <p:sldId id="340" r:id="rId8"/>
    <p:sldId id="341" r:id="rId9"/>
    <p:sldId id="342" r:id="rId10"/>
    <p:sldId id="343" r:id="rId11"/>
    <p:sldId id="346" r:id="rId12"/>
    <p:sldId id="347" r:id="rId13"/>
    <p:sldId id="345" r:id="rId14"/>
    <p:sldId id="33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85316" autoAdjust="0"/>
  </p:normalViewPr>
  <p:slideViewPr>
    <p:cSldViewPr snapToGrid="0">
      <p:cViewPr varScale="1">
        <p:scale>
          <a:sx n="110" d="100"/>
          <a:sy n="110" d="100"/>
        </p:scale>
        <p:origin x="76" y="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4CB405-BC11-414E-B0F4-9E1C4642FE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1A09E4-E76E-43B1-9270-846FE19D3E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0A57E1-CEB3-4C96-B7C6-36B0FA3064E4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91962-6490-4685-B760-76A1628AD5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697A7F-1461-4B81-83F2-8C494CFB80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D51C3-EABD-4553-9DC0-81CFC2A7F3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461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1BBD7-2276-4DDA-BFFE-26CAACEE5E98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279F17-7BA4-49BC-BB37-7F646CF8D2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74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79F17-7BA4-49BC-BB37-7F646CF8D2F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891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772" y="1793289"/>
            <a:ext cx="3010925" cy="3373515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423228AD-A556-C433-B2EA-87D97B6FF6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2975" y="3086826"/>
            <a:ext cx="5667049" cy="2079978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2976" y="1793289"/>
            <a:ext cx="5658458" cy="1127125"/>
          </a:xfrm>
        </p:spPr>
        <p:txBody>
          <a:bodyPr lIns="0" tIns="0" rIns="0" b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845572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0925" y="1582977"/>
            <a:ext cx="3978939" cy="1946607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9512" y="2347118"/>
            <a:ext cx="5161563" cy="2304791"/>
          </a:xfrm>
        </p:spPr>
        <p:txBody>
          <a:bodyPr lIns="0" tIns="0" rIns="0" bIns="0" anchor="ctr"/>
          <a:lstStyle>
            <a:lvl1pPr marL="0" indent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8000" cap="all" spc="-15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7BC5E0-03EB-A193-1303-34484219ED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2614" y="5010341"/>
            <a:ext cx="9501187" cy="1139447"/>
          </a:xfrm>
        </p:spPr>
        <p:txBody>
          <a:bodyPr/>
          <a:lstStyle>
            <a:lvl1pPr marL="0" indent="0" algn="ctr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05679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032" y="608075"/>
            <a:ext cx="10061455" cy="644653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0827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Picture Placeholder 11" descr="picture placeholder">
            <a:extLst>
              <a:ext uri="{FF2B5EF4-FFF2-40B4-BE49-F238E27FC236}">
                <a16:creationId xmlns:a16="http://schemas.microsoft.com/office/drawing/2014/main" id="{BDEA8563-2200-B57E-810F-41DD854A672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690863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D97174A-CD7A-C701-0CE9-02D5F895E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0864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630D9652-C4A0-E049-3F65-924827826FE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88558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9B6060F-8C38-5C36-BCF1-620E2F4AF9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8559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539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,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84" y="890015"/>
            <a:ext cx="3091684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"/>
            <a:ext cx="4785234" cy="685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834" y="3438143"/>
            <a:ext cx="3439598" cy="263152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891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007489C8-C2F6-7874-81E6-FAF3CB72CD3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782575" y="1634085"/>
            <a:ext cx="2941845" cy="31912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075" y="560048"/>
            <a:ext cx="4622471" cy="2384319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A41ABB58-FB44-EE86-1061-E95F873917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79076" y="3089598"/>
            <a:ext cx="3577916" cy="49377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 cap="all" baseline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9076" y="3631142"/>
            <a:ext cx="2721367" cy="2631523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8C33102-C0D9-31A0-A7A1-2BAC395320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05640" y="5285084"/>
            <a:ext cx="3095716" cy="93929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93024" y="1634086"/>
            <a:ext cx="2941845" cy="31912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F5D171A2-DD04-FA64-A705-BE5D0C937E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16088" y="5285084"/>
            <a:ext cx="3095716" cy="93929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08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20493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D1BC8852-D44A-D95C-9A79-F92DD4EC2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2131" y="425139"/>
            <a:ext cx="3164770" cy="2403406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08E62040-BF32-845C-9224-98B69005FC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2130" y="3075681"/>
            <a:ext cx="3164764" cy="1376398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Picture Placeholder 11" descr="picture placeholder">
            <a:extLst>
              <a:ext uri="{FF2B5EF4-FFF2-40B4-BE49-F238E27FC236}">
                <a16:creationId xmlns:a16="http://schemas.microsoft.com/office/drawing/2014/main" id="{7D19173E-BF72-7982-B9A1-FE487C1188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42131" y="4721601"/>
            <a:ext cx="3522392" cy="21363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11" descr="picture placeholder">
            <a:extLst>
              <a:ext uri="{FF2B5EF4-FFF2-40B4-BE49-F238E27FC236}">
                <a16:creationId xmlns:a16="http://schemas.microsoft.com/office/drawing/2014/main" id="{D51C203A-3A92-6BC5-A236-DBB70B517E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21959" y="1"/>
            <a:ext cx="3925538" cy="2933008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11" descr="picture placeholder">
            <a:extLst>
              <a:ext uri="{FF2B5EF4-FFF2-40B4-BE49-F238E27FC236}">
                <a16:creationId xmlns:a16="http://schemas.microsoft.com/office/drawing/2014/main" id="{BA8C2200-B8F4-7A2E-4F97-B31B53D38A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921959" y="3082045"/>
            <a:ext cx="2262279" cy="1465065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6290D66C-EBB5-C620-E71D-0FBB89C5576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21959" y="4721601"/>
            <a:ext cx="2262279" cy="21363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Picture Placeholder 11" descr="picture placeholder">
            <a:extLst>
              <a:ext uri="{FF2B5EF4-FFF2-40B4-BE49-F238E27FC236}">
                <a16:creationId xmlns:a16="http://schemas.microsoft.com/office/drawing/2014/main" id="{4AAF9077-F4CB-6EB4-F15E-CA235E89EB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6534" y="335197"/>
            <a:ext cx="2301704" cy="259781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11" descr="picture placeholder">
            <a:extLst>
              <a:ext uri="{FF2B5EF4-FFF2-40B4-BE49-F238E27FC236}">
                <a16:creationId xmlns:a16="http://schemas.microsoft.com/office/drawing/2014/main" id="{720F3E71-0F7F-4FA9-5236-34EDD2EEC73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37475" y="3082045"/>
            <a:ext cx="4854525" cy="297847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58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8004" y="890011"/>
            <a:ext cx="10963996" cy="517051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9F0849-FB1F-B511-68E2-73CBF63D60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196" y="649990"/>
            <a:ext cx="10126933" cy="425138"/>
          </a:xfrm>
        </p:spPr>
        <p:txBody>
          <a:bodyPr lIns="0" tIns="0" rIns="0" bIns="0" anchor="t"/>
          <a:lstStyle>
            <a:lvl1pPr algn="l">
              <a:lnSpc>
                <a:spcPct val="75000"/>
              </a:lnSpc>
              <a:defRPr sz="4800" b="0" i="0" spc="-15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27A013-657B-B1EA-05D7-FCFD2EA6E6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2406" y="5856042"/>
            <a:ext cx="10126918" cy="425138"/>
          </a:xfrm>
        </p:spPr>
        <p:txBody>
          <a:bodyPr lIns="0" tIns="0" rIns="0" bIns="0"/>
          <a:lstStyle>
            <a:lvl1pPr marL="0" indent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480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</a:defRPr>
            </a:lvl1pPr>
            <a:lvl2pPr marL="4572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2pPr>
            <a:lvl3pPr marL="9144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3pPr>
            <a:lvl4pPr marL="13716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4pPr>
            <a:lvl5pPr marL="18288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764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title, Picture,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84" y="890015"/>
            <a:ext cx="3091684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"/>
            <a:ext cx="4785234" cy="685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1F475-EF10-D813-0860-75BE8B40BF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6835" y="3429000"/>
            <a:ext cx="3439596" cy="434975"/>
          </a:xfrm>
        </p:spPr>
        <p:txBody>
          <a:bodyPr lIns="0" r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834" y="4083247"/>
            <a:ext cx="3439598" cy="2040209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98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and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9581" y="2160494"/>
            <a:ext cx="6058564" cy="4697507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6150" y="596200"/>
            <a:ext cx="4758948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BEAF734-7706-B3C3-A222-4374E6E420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04041" y="900724"/>
            <a:ext cx="3439597" cy="2392155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5745" y="3292881"/>
            <a:ext cx="2967893" cy="223834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7E41109A-8BEA-FEB0-7ED8-F6C1DB5D4B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4041" y="5703628"/>
            <a:ext cx="3523517" cy="35542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j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95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with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032" y="608075"/>
            <a:ext cx="10061455" cy="644653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27C4070-4CFF-FDA7-C0F7-167D09EE79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3710" y="1288398"/>
            <a:ext cx="10071100" cy="466725"/>
          </a:xfrm>
        </p:spPr>
        <p:txBody>
          <a:bodyPr lIns="0" r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00853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2783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Picture Placeholder 11" descr="picture placeholder">
            <a:extLst>
              <a:ext uri="{FF2B5EF4-FFF2-40B4-BE49-F238E27FC236}">
                <a16:creationId xmlns:a16="http://schemas.microsoft.com/office/drawing/2014/main" id="{6056702D-014D-8146-A1CF-42D52C1D1B0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42912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D97174A-CD7A-C701-0CE9-02D5F895E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42917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Picture Placeholder 11" descr="picture placeholder">
            <a:extLst>
              <a:ext uri="{FF2B5EF4-FFF2-40B4-BE49-F238E27FC236}">
                <a16:creationId xmlns:a16="http://schemas.microsoft.com/office/drawing/2014/main" id="{1AE62733-AF33-D10E-D484-04859AC2A44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03793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9B6060F-8C38-5C36-BCF1-620E2F4AF9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03798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63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370" y="613839"/>
            <a:ext cx="4833725" cy="1713677"/>
          </a:xfrm>
        </p:spPr>
        <p:txBody>
          <a:bodyPr lIns="0" tIns="0" rIns="0" bIns="0" anchor="t"/>
          <a:lstStyle>
            <a:lvl1pPr algn="l">
              <a:lnSpc>
                <a:spcPct val="75000"/>
              </a:lnSpc>
              <a:defRPr sz="4800" b="0" i="0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64441" y="2187388"/>
            <a:ext cx="5863703" cy="4670613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BEAF734-7706-B3C3-A222-4374E6E420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93448" y="3156285"/>
            <a:ext cx="3733521" cy="3292500"/>
          </a:xfrm>
        </p:spPr>
        <p:txBody>
          <a:bodyPr lIns="0" tIns="0" rIns="0" bIns="0"/>
          <a:lstStyle>
            <a:lvl1pPr marL="0" indent="0" algn="l">
              <a:buClr>
                <a:schemeClr val="bg1"/>
              </a:buClr>
              <a:buFont typeface="Courier New" panose="02070309020205020404" pitchFamily="49" charset="0"/>
              <a:buNone/>
              <a:defRPr sz="4800" b="0" i="0" u="sng">
                <a:solidFill>
                  <a:schemeClr val="accent1"/>
                </a:solidFill>
                <a:latin typeface="+mj-lt"/>
                <a:cs typeface="Mangal" panose="02040503050203030202" pitchFamily="18" charset="0"/>
              </a:defRPr>
            </a:lvl1pPr>
            <a:lvl2pPr marL="4572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746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7865" y="2565736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r>
              <a:rPr lang="en-US" dirty="0"/>
              <a:t>DIGITAL TIME CAPSULE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425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8" r:id="rId1"/>
    <p:sldLayoutId id="2147484209" r:id="rId2"/>
    <p:sldLayoutId id="2147484210" r:id="rId3"/>
    <p:sldLayoutId id="2147484211" r:id="rId4"/>
    <p:sldLayoutId id="2147484212" r:id="rId5"/>
    <p:sldLayoutId id="2147484200" r:id="rId6"/>
    <p:sldLayoutId id="2147484213" r:id="rId7"/>
    <p:sldLayoutId id="2147484214" r:id="rId8"/>
    <p:sldLayoutId id="2147484215" r:id="rId9"/>
    <p:sldLayoutId id="2147484216" r:id="rId10"/>
    <p:sldLayoutId id="2147484217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all" baseline="0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1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15209-551F-6EC1-A54B-79D9B460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772" y="1793289"/>
            <a:ext cx="3010925" cy="3373515"/>
          </a:xfrm>
        </p:spPr>
        <p:txBody>
          <a:bodyPr/>
          <a:lstStyle/>
          <a:p>
            <a:r>
              <a:rPr lang="en-US" dirty="0"/>
              <a:t>INS</a:t>
            </a:r>
            <a:br>
              <a:rPr lang="en-US" dirty="0"/>
            </a:br>
            <a:r>
              <a:rPr lang="en-US" dirty="0"/>
              <a:t>TRUCTIONS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30A01-D93D-8F12-EBCB-EFA04DB56D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2975" y="2252870"/>
            <a:ext cx="5667049" cy="3048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FROM FARMERS’ HANDS TO YOURS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71EEDB-AB8C-4E0A-A6AE-00A198015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610" y="1476375"/>
            <a:ext cx="3895725" cy="390525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15892EB-F8DD-4E4C-8DDA-81F7F6944323}"/>
              </a:ext>
            </a:extLst>
          </p:cNvPr>
          <p:cNvSpPr txBox="1">
            <a:spLocks/>
          </p:cNvSpPr>
          <p:nvPr/>
        </p:nvSpPr>
        <p:spPr>
          <a:xfrm>
            <a:off x="5502975" y="1476375"/>
            <a:ext cx="6105929" cy="776495"/>
          </a:xfrm>
          <a:prstGeom prst="rect">
            <a:avLst/>
          </a:prstGeom>
          <a:effectLst/>
        </p:spPr>
        <p:txBody>
          <a:bodyPr vert="horz" lIns="0" tIns="0" rIns="0" bIns="0" rtlCol="0" anchor="ctr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8000" b="0" i="0" kern="1200" cap="all" spc="-15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5400" dirty="0" err="1"/>
              <a:t>KruSHI</a:t>
            </a:r>
            <a:r>
              <a:rPr lang="en-US" sz="5400" dirty="0"/>
              <a:t>-CONNECT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29DDAFE5-3765-4CAF-9A28-AC61918B08C0}"/>
              </a:ext>
            </a:extLst>
          </p:cNvPr>
          <p:cNvSpPr txBox="1">
            <a:spLocks/>
          </p:cNvSpPr>
          <p:nvPr/>
        </p:nvSpPr>
        <p:spPr>
          <a:xfrm>
            <a:off x="5502974" y="4514180"/>
            <a:ext cx="6105929" cy="11860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Mangal" panose="02040503050203030202" pitchFamily="18" charset="0"/>
                <a:ea typeface="+mn-ea"/>
                <a:cs typeface="Mangal" panose="02040503050203030202" pitchFamily="18" charset="0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Mangal" panose="02040503050203030202" pitchFamily="18" charset="0"/>
                <a:ea typeface="+mn-ea"/>
                <a:cs typeface="Mangal" panose="02040503050203030202" pitchFamily="18" charset="0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Mangal" panose="02040503050203030202" pitchFamily="18" charset="0"/>
                <a:ea typeface="+mn-ea"/>
                <a:cs typeface="Mangal" panose="02040503050203030202" pitchFamily="18" charset="0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Char char="o"/>
              <a:defRPr sz="1400" b="0" i="0" kern="1200" cap="none">
                <a:solidFill>
                  <a:schemeClr val="bg1"/>
                </a:solidFill>
                <a:effectLst/>
                <a:latin typeface="Mangal" panose="02040503050203030202" pitchFamily="18" charset="0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/>
              <a:t>DILAN </a:t>
            </a:r>
            <a:r>
              <a:rPr lang="en-US" sz="2000" dirty="0"/>
              <a:t>SACHINTHA MANAGE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8A7F212-98D5-4794-96D9-49D0274B77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02974" y="3229182"/>
            <a:ext cx="5667049" cy="304801"/>
          </a:xfrm>
        </p:spPr>
        <p:txBody>
          <a:bodyPr/>
          <a:lstStyle/>
          <a:p>
            <a:pPr algn="ctr"/>
            <a:r>
              <a:rPr lang="en-US" sz="2000"/>
              <a:t>FINAL </a:t>
            </a:r>
            <a:r>
              <a:rPr lang="en-US" sz="2000" dirty="0"/>
              <a:t>VIVA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499560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2FC7B-7008-CF79-CA61-501AE40EF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8" y="1073427"/>
            <a:ext cx="4545495" cy="1537252"/>
          </a:xfrm>
        </p:spPr>
        <p:txBody>
          <a:bodyPr/>
          <a:lstStyle/>
          <a:p>
            <a:pPr algn="r"/>
            <a:r>
              <a:rPr lang="en-US" sz="4800" cap="none" dirty="0"/>
              <a:t>Problem Statement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C9233-DE4C-C574-F235-B08205E3D8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4799" y="940905"/>
            <a:ext cx="6255027" cy="5459895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GB" sz="2200" cap="none" dirty="0"/>
              <a:t>75% of Sri Lankan farmers are small-scale and rely on middlemen. (FAO)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GB" sz="2200" cap="none" dirty="0"/>
              <a:t>Middlemen take 30%-50% of the profit, reducing farmer earnings. (CBSL)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GB" sz="2200" cap="none" dirty="0"/>
              <a:t>Post-harvest losses due to inefficient supply chains range from 30%-40%. (</a:t>
            </a:r>
            <a:r>
              <a:rPr lang="en-GB" sz="2200" cap="none" dirty="0" err="1"/>
              <a:t>MoA</a:t>
            </a:r>
            <a:r>
              <a:rPr lang="en-GB" sz="2200" cap="none" dirty="0"/>
              <a:t>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GB" sz="2200" cap="none" dirty="0"/>
              <a:t>Limited digital adoption – only ~20% of farmers use online selling due to lack of awareness and accessibility. (ICTA)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GB" sz="2200" cap="none" dirty="0"/>
              <a:t>Consumers face higher prices and limited access to fresh farm produce. (SLCAA)</a:t>
            </a:r>
          </a:p>
          <a:p>
            <a:pPr algn="l"/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BE4320-0C3A-4109-A585-C950D0E72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905" y="294904"/>
            <a:ext cx="1674738" cy="4074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DB557C-B6A0-4AC4-BE34-BC5AD8C62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506" y="2842593"/>
            <a:ext cx="3108137" cy="256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399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2FC7B-7008-CF79-CA61-501AE40EF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94" y="1215185"/>
            <a:ext cx="4545495" cy="1537252"/>
          </a:xfrm>
        </p:spPr>
        <p:txBody>
          <a:bodyPr/>
          <a:lstStyle/>
          <a:p>
            <a:r>
              <a:rPr lang="en-US" sz="5400" cap="none" dirty="0"/>
              <a:t>Motivation</a:t>
            </a:r>
            <a:endParaRPr lang="en-US" sz="5400" dirty="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022D059B-84F0-4EE5-865B-B89027FC1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832" y="2552272"/>
            <a:ext cx="12138259" cy="3330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Eliminate middlemen → Ensure fair pricing for farmers.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Direct-to-Consumer (D2C) model → More profits for farmers, fresher produce for consumers.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User-friendly digital platform → Supports the needs of all user types involved.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Reduce waste → Optimize farm-to-market logistics.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E9AD519-739B-4358-AF61-E7D8FE45C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513" y="1215185"/>
            <a:ext cx="3442685" cy="172134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A5CAB17-1347-44DC-91AB-5489F4AB9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7905" y="294904"/>
            <a:ext cx="1674738" cy="40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403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2FC7B-7008-CF79-CA61-501AE40EF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02" y="755373"/>
            <a:ext cx="2993338" cy="1537252"/>
          </a:xfrm>
        </p:spPr>
        <p:txBody>
          <a:bodyPr/>
          <a:lstStyle/>
          <a:p>
            <a:r>
              <a:rPr lang="en-US" sz="4800" cap="none" dirty="0"/>
              <a:t>Key </a:t>
            </a:r>
            <a:br>
              <a:rPr lang="en-US" sz="4800" cap="none" dirty="0"/>
            </a:br>
            <a:r>
              <a:rPr lang="en-US" sz="4800" cap="none" dirty="0"/>
              <a:t>Objectives</a:t>
            </a:r>
            <a:endParaRPr lang="en-US" sz="4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A5CAB17-1347-44DC-91AB-5489F4AB9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905" y="294904"/>
            <a:ext cx="1674738" cy="4074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E7CA24-265B-46F2-8D95-195D4FA412C7}"/>
              </a:ext>
            </a:extLst>
          </p:cNvPr>
          <p:cNvSpPr txBox="1"/>
          <p:nvPr/>
        </p:nvSpPr>
        <p:spPr>
          <a:xfrm>
            <a:off x="3670852" y="671691"/>
            <a:ext cx="841264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b="1" dirty="0">
                <a:solidFill>
                  <a:schemeClr val="bg1"/>
                </a:solidFill>
              </a:rPr>
              <a:t>Facilitate Direct Farmer-to-Consumer Sales: </a:t>
            </a:r>
            <a:r>
              <a:rPr lang="en-GB" dirty="0">
                <a:solidFill>
                  <a:schemeClr val="bg1"/>
                </a:solidFill>
              </a:rPr>
              <a:t>Eliminate middlemen to increase farmer earnings.</a:t>
            </a:r>
          </a:p>
          <a:p>
            <a:pPr>
              <a:buClr>
                <a:srgbClr val="FF0000"/>
              </a:buClr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b="1" dirty="0">
                <a:solidFill>
                  <a:schemeClr val="bg1"/>
                </a:solidFill>
              </a:rPr>
              <a:t>Enable Location-Based Services: </a:t>
            </a:r>
            <a:r>
              <a:rPr lang="en-GB" dirty="0">
                <a:solidFill>
                  <a:schemeClr val="bg1"/>
                </a:solidFill>
              </a:rPr>
              <a:t>Utilize Google Maps externally for product location tracking and customer access on pickup orders.</a:t>
            </a:r>
          </a:p>
          <a:p>
            <a:pPr>
              <a:buClr>
                <a:srgbClr val="FF0000"/>
              </a:buClr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b="1" dirty="0">
                <a:solidFill>
                  <a:schemeClr val="bg1"/>
                </a:solidFill>
              </a:rPr>
              <a:t>Provide Secure Authentication &amp; Role-Based Access: </a:t>
            </a:r>
            <a:r>
              <a:rPr lang="en-GB" dirty="0">
                <a:solidFill>
                  <a:schemeClr val="bg1"/>
                </a:solidFill>
              </a:rPr>
              <a:t>Implement Firebase authentication for farmers, customers, and admins (with Email link authorization and fingerprint integration for admin related access).</a:t>
            </a:r>
          </a:p>
          <a:p>
            <a:pPr>
              <a:buClr>
                <a:srgbClr val="FF0000"/>
              </a:buClr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b="1" dirty="0">
                <a:solidFill>
                  <a:schemeClr val="bg1"/>
                </a:solidFill>
              </a:rPr>
              <a:t>Order Management &amp; Transactions: </a:t>
            </a:r>
            <a:r>
              <a:rPr lang="en-GB" dirty="0">
                <a:solidFill>
                  <a:schemeClr val="bg1"/>
                </a:solidFill>
              </a:rPr>
              <a:t>Enhanced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</a:rPr>
              <a:t>order processing, and payments integration.</a:t>
            </a:r>
          </a:p>
          <a:p>
            <a:pPr>
              <a:buClr>
                <a:srgbClr val="FF0000"/>
              </a:buClr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b="1" dirty="0">
                <a:solidFill>
                  <a:schemeClr val="bg1"/>
                </a:solidFill>
              </a:rPr>
              <a:t>Telephony Services: </a:t>
            </a:r>
            <a:r>
              <a:rPr lang="en-GB" dirty="0">
                <a:solidFill>
                  <a:schemeClr val="bg1"/>
                </a:solidFill>
              </a:rPr>
              <a:t>Allow customers to directly call farmers for inquiries.</a:t>
            </a:r>
          </a:p>
          <a:p>
            <a:pPr>
              <a:buClr>
                <a:srgbClr val="FF0000"/>
              </a:buClr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b="1" dirty="0">
                <a:solidFill>
                  <a:schemeClr val="bg1"/>
                </a:solidFill>
              </a:rPr>
              <a:t>Receipt Downloading: </a:t>
            </a:r>
            <a:r>
              <a:rPr lang="en-GB" dirty="0">
                <a:solidFill>
                  <a:schemeClr val="bg1"/>
                </a:solidFill>
              </a:rPr>
              <a:t>Provide an option to download order receipts for record-keeping.</a:t>
            </a:r>
          </a:p>
          <a:p>
            <a:pPr>
              <a:buClr>
                <a:srgbClr val="FF0000"/>
              </a:buClr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b="1" dirty="0">
                <a:solidFill>
                  <a:schemeClr val="bg1"/>
                </a:solidFill>
              </a:rPr>
              <a:t>Implement Product Filtering &amp; Search: </a:t>
            </a:r>
            <a:r>
              <a:rPr lang="en-GB" dirty="0">
                <a:solidFill>
                  <a:schemeClr val="bg1"/>
                </a:solidFill>
              </a:rPr>
              <a:t>Allow users to filter by category, price, and location for better product discovery.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24CE72-4078-41FF-800E-C9D950594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19" y="2607186"/>
            <a:ext cx="1443660" cy="16595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1C28BF-BFA5-4378-8674-691E0C934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8179" y="4415629"/>
            <a:ext cx="1443660" cy="153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67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2FC7B-7008-CF79-CA61-501AE40EF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539" y="702365"/>
            <a:ext cx="4104523" cy="2020914"/>
          </a:xfrm>
        </p:spPr>
        <p:txBody>
          <a:bodyPr/>
          <a:lstStyle/>
          <a:p>
            <a:pPr algn="r"/>
            <a:r>
              <a:rPr lang="en-US" sz="4800" cap="none" dirty="0"/>
              <a:t>Technologies &amp; Architecture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A5CAB17-1347-44DC-91AB-5489F4AB9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905" y="294904"/>
            <a:ext cx="1674738" cy="4074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7BDC3C-E845-454D-81A4-61983AE3846A}"/>
              </a:ext>
            </a:extLst>
          </p:cNvPr>
          <p:cNvSpPr txBox="1"/>
          <p:nvPr/>
        </p:nvSpPr>
        <p:spPr>
          <a:xfrm>
            <a:off x="228938" y="851495"/>
            <a:ext cx="7735619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Frontend (Android - Java &amp; XML) </a:t>
            </a:r>
            <a:r>
              <a:rPr lang="en-GB" dirty="0">
                <a:solidFill>
                  <a:schemeClr val="bg1"/>
                </a:solidFill>
              </a:rPr>
              <a:t>: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bg1"/>
                </a:solidFill>
              </a:rPr>
              <a:t>Technologies Used: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bg1"/>
                </a:solidFill>
              </a:rPr>
              <a:t>XML: UI Layouts.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bg1"/>
                </a:solidFill>
              </a:rPr>
              <a:t>Android Design Palette: Manual UI structuring.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bg1"/>
                </a:solidFill>
              </a:rPr>
              <a:t>Java: Manages UI logic (Activities, Fragments, Adapters, </a:t>
            </a:r>
            <a:r>
              <a:rPr lang="en-GB" sz="2000" dirty="0" err="1">
                <a:solidFill>
                  <a:schemeClr val="bg1"/>
                </a:solidFill>
              </a:rPr>
              <a:t>ViewModel</a:t>
            </a:r>
            <a:r>
              <a:rPr lang="en-GB" sz="2000" dirty="0">
                <a:solidFill>
                  <a:schemeClr val="bg1"/>
                </a:solidFill>
              </a:rPr>
              <a:t>).</a:t>
            </a:r>
          </a:p>
          <a:p>
            <a:pPr lvl="1">
              <a:buClr>
                <a:srgbClr val="FF0000"/>
              </a:buClr>
            </a:pPr>
            <a:endParaRPr lang="en-GB" sz="2000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bg1"/>
                </a:solidFill>
              </a:rPr>
              <a:t>Architecture Used: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bg1"/>
                </a:solidFill>
              </a:rPr>
              <a:t>MVVM (Model-View-</a:t>
            </a:r>
            <a:r>
              <a:rPr lang="en-GB" sz="2000" dirty="0" err="1">
                <a:solidFill>
                  <a:schemeClr val="bg1"/>
                </a:solidFill>
              </a:rPr>
              <a:t>ViewModel</a:t>
            </a:r>
            <a:r>
              <a:rPr lang="en-GB" sz="2000" dirty="0">
                <a:solidFill>
                  <a:schemeClr val="bg1"/>
                </a:solidFill>
              </a:rPr>
              <a:t>)</a:t>
            </a:r>
          </a:p>
          <a:p>
            <a:pPr marL="1200150" lvl="2" indent="-28575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bg1"/>
                </a:solidFill>
              </a:rPr>
              <a:t>Model (M): Handles data-related operations (</a:t>
            </a:r>
            <a:r>
              <a:rPr lang="en-GB" sz="2000" dirty="0" err="1">
                <a:solidFill>
                  <a:schemeClr val="bg1"/>
                </a:solidFill>
              </a:rPr>
              <a:t>Firestore</a:t>
            </a:r>
            <a:r>
              <a:rPr lang="en-GB" sz="2000" dirty="0">
                <a:solidFill>
                  <a:schemeClr val="bg1"/>
                </a:solidFill>
              </a:rPr>
              <a:t> models, authentication models).</a:t>
            </a:r>
          </a:p>
          <a:p>
            <a:pPr marL="1200150" lvl="2" indent="-28575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bg1"/>
                </a:solidFill>
              </a:rPr>
              <a:t>View (V):</a:t>
            </a:r>
          </a:p>
          <a:p>
            <a:pPr marL="1657350" lvl="3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XML Layouts: UI design for activities &amp; fragments.</a:t>
            </a:r>
          </a:p>
          <a:p>
            <a:pPr marL="1657350" lvl="3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Android Design Palette: Drag-and-drop UI structuring.</a:t>
            </a:r>
          </a:p>
          <a:p>
            <a:pPr marL="1200150" lvl="2" indent="-28575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GB" sz="2000" dirty="0" err="1">
                <a:solidFill>
                  <a:schemeClr val="bg1"/>
                </a:solidFill>
              </a:rPr>
              <a:t>ViewModel</a:t>
            </a:r>
            <a:r>
              <a:rPr lang="en-GB" sz="2000" dirty="0">
                <a:solidFill>
                  <a:schemeClr val="bg1"/>
                </a:solidFill>
              </a:rPr>
              <a:t> (VM): Manages UI logic and API interactions.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82BD05-052C-47A7-AFFC-F352A0A8E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426" y="2723279"/>
            <a:ext cx="4038748" cy="226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549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2FC7B-7008-CF79-CA61-501AE40EF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539" y="702365"/>
            <a:ext cx="4104523" cy="2020914"/>
          </a:xfrm>
        </p:spPr>
        <p:txBody>
          <a:bodyPr/>
          <a:lstStyle/>
          <a:p>
            <a:pPr algn="r"/>
            <a:r>
              <a:rPr lang="en-US" sz="4800" cap="none" dirty="0"/>
              <a:t>Technologies &amp; Architecture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A5CAB17-1347-44DC-91AB-5489F4AB9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905" y="294904"/>
            <a:ext cx="1674738" cy="4074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6F10DB-AD87-4F84-8CFE-2DCCCD7BAF12}"/>
              </a:ext>
            </a:extLst>
          </p:cNvPr>
          <p:cNvSpPr txBox="1"/>
          <p:nvPr/>
        </p:nvSpPr>
        <p:spPr>
          <a:xfrm>
            <a:off x="427721" y="599592"/>
            <a:ext cx="781513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Backend (Firebase Services &amp; APIs)</a:t>
            </a:r>
          </a:p>
          <a:p>
            <a:endParaRPr lang="en-GB" sz="2000" b="1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bg1"/>
                </a:solidFill>
              </a:rPr>
              <a:t>Technologies Used: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bg1"/>
                </a:solidFill>
              </a:rPr>
              <a:t>Java: Handles backend logic and </a:t>
            </a:r>
            <a:r>
              <a:rPr lang="en-GB" sz="2000" dirty="0" err="1">
                <a:solidFill>
                  <a:schemeClr val="bg1"/>
                </a:solidFill>
              </a:rPr>
              <a:t>Firestore</a:t>
            </a:r>
            <a:r>
              <a:rPr lang="en-GB" sz="2000" dirty="0">
                <a:solidFill>
                  <a:schemeClr val="bg1"/>
                </a:solidFill>
              </a:rPr>
              <a:t> interactions.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GB" sz="2000" dirty="0" err="1">
                <a:solidFill>
                  <a:schemeClr val="bg1"/>
                </a:solidFill>
              </a:rPr>
              <a:t>Firestore</a:t>
            </a:r>
            <a:r>
              <a:rPr lang="en-GB" sz="2000" dirty="0">
                <a:solidFill>
                  <a:schemeClr val="bg1"/>
                </a:solidFill>
              </a:rPr>
              <a:t> (NoSQL Database): Stores application related data.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bg1"/>
                </a:solidFill>
              </a:rPr>
              <a:t>Firebase Authentication: Role-based login/signup management.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bg1"/>
                </a:solidFill>
              </a:rPr>
              <a:t>Firebase Storage: Stores product </a:t>
            </a:r>
            <a:r>
              <a:rPr lang="en-GB" sz="2000" dirty="0" err="1">
                <a:solidFill>
                  <a:schemeClr val="bg1"/>
                </a:solidFill>
              </a:rPr>
              <a:t>images.Firestore</a:t>
            </a:r>
            <a:r>
              <a:rPr lang="en-GB" sz="2000" dirty="0">
                <a:solidFill>
                  <a:schemeClr val="bg1"/>
                </a:solidFill>
              </a:rPr>
              <a:t> Security.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bg1"/>
                </a:solidFill>
              </a:rPr>
              <a:t>Network &amp; API Handling: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bg1"/>
                </a:solidFill>
              </a:rPr>
              <a:t>Java (</a:t>
            </a:r>
            <a:r>
              <a:rPr lang="en-GB" sz="2000" dirty="0" err="1">
                <a:solidFill>
                  <a:schemeClr val="bg1"/>
                </a:solidFill>
              </a:rPr>
              <a:t>Firestore</a:t>
            </a:r>
            <a:r>
              <a:rPr lang="en-GB" sz="2000" dirty="0">
                <a:solidFill>
                  <a:schemeClr val="bg1"/>
                </a:solidFill>
              </a:rPr>
              <a:t> Queries &amp; Data Processing): Manages </a:t>
            </a:r>
            <a:r>
              <a:rPr lang="en-GB" sz="2000" dirty="0" err="1">
                <a:solidFill>
                  <a:schemeClr val="bg1"/>
                </a:solidFill>
              </a:rPr>
              <a:t>Firestore</a:t>
            </a:r>
            <a:r>
              <a:rPr lang="en-GB" sz="2000" dirty="0">
                <a:solidFill>
                  <a:schemeClr val="bg1"/>
                </a:solidFill>
              </a:rPr>
              <a:t> CRUD operations.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bg1"/>
                </a:solidFill>
              </a:rPr>
              <a:t>Java (</a:t>
            </a:r>
            <a:r>
              <a:rPr lang="en-GB" sz="2000" dirty="0" err="1">
                <a:solidFill>
                  <a:schemeClr val="bg1"/>
                </a:solidFill>
              </a:rPr>
              <a:t>FirebaseAuth</a:t>
            </a:r>
            <a:r>
              <a:rPr lang="en-GB" sz="2000" dirty="0">
                <a:solidFill>
                  <a:schemeClr val="bg1"/>
                </a:solidFill>
              </a:rPr>
              <a:t> &amp; Firebase Storage SDK): Handles authentication and image uploads.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bg1"/>
                </a:solidFill>
              </a:rPr>
              <a:t>APIs &amp; External Integrations: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bg1"/>
                </a:solidFill>
              </a:rPr>
              <a:t>Google Maps &amp; Places APIs: Fetches and displays locations  Telephony: Allows direct calls.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GB" sz="2000" dirty="0" err="1">
                <a:solidFill>
                  <a:schemeClr val="bg1"/>
                </a:solidFill>
              </a:rPr>
              <a:t>PayHere</a:t>
            </a:r>
            <a:r>
              <a:rPr lang="en-GB" sz="2000" dirty="0">
                <a:solidFill>
                  <a:schemeClr val="bg1"/>
                </a:solidFill>
              </a:rPr>
              <a:t>: Processes payments securely.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EBF499-4F24-4E57-8F0F-2B8873FB4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540" y="2826052"/>
            <a:ext cx="3180522" cy="1789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30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2FC7B-7008-CF79-CA61-501AE40EF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9720" y="1061011"/>
            <a:ext cx="4522923" cy="2026746"/>
          </a:xfrm>
        </p:spPr>
        <p:txBody>
          <a:bodyPr/>
          <a:lstStyle/>
          <a:p>
            <a:pPr algn="r"/>
            <a:r>
              <a:rPr lang="en-US" sz="4800" cap="none" dirty="0"/>
              <a:t>Key Features : Farmers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A5CAB17-1347-44DC-91AB-5489F4AB9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905" y="294904"/>
            <a:ext cx="1674738" cy="4074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F796A22-5F26-42CC-8B7E-EB1CBBDE3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530" y="2718372"/>
            <a:ext cx="3737113" cy="18933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5C22D9-56F2-4CB4-9108-5D1DCBCACF3E}"/>
              </a:ext>
            </a:extLst>
          </p:cNvPr>
          <p:cNvSpPr txBox="1"/>
          <p:nvPr/>
        </p:nvSpPr>
        <p:spPr>
          <a:xfrm>
            <a:off x="384313" y="889843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Farmer Sign-Up &amp; Authentication: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Only farmers (role) can register and login using farmer signup &amp; sign-in pages.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Product Management: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Farmers can add products (only farmers) and update stocks of their products.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Uploads support three images per product via Firebase storage.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Admin approval required for farmer products to be listed on the app.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Order Management: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Farmers can view only their own ordered products and gets to update the status on pickup orders of customers.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Location Services: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Product location fetched dynamically from the farmer’s stored address. 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Direct Customer Interaction: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Customers can call farmers directly via the Telephony API from order details.</a:t>
            </a:r>
          </a:p>
        </p:txBody>
      </p:sp>
    </p:spTree>
    <p:extLst>
      <p:ext uri="{BB962C8B-B14F-4D97-AF65-F5344CB8AC3E}">
        <p14:creationId xmlns:p14="http://schemas.microsoft.com/office/powerpoint/2010/main" val="2340137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2FC7B-7008-CF79-CA61-501AE40EF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9720" y="1061011"/>
            <a:ext cx="4522923" cy="2026746"/>
          </a:xfrm>
        </p:spPr>
        <p:txBody>
          <a:bodyPr/>
          <a:lstStyle/>
          <a:p>
            <a:pPr algn="r"/>
            <a:r>
              <a:rPr lang="en-US" sz="4800" cap="none" dirty="0"/>
              <a:t>Key Features : Customers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A5CAB17-1347-44DC-91AB-5489F4AB9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905" y="294904"/>
            <a:ext cx="1674738" cy="4074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DC1BAC-975D-4461-B19A-D6FB7C950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322" y="2846963"/>
            <a:ext cx="3485321" cy="22297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8A409F-35F9-4417-8FC4-F1AA03E9705B}"/>
              </a:ext>
            </a:extLst>
          </p:cNvPr>
          <p:cNvSpPr txBox="1"/>
          <p:nvPr/>
        </p:nvSpPr>
        <p:spPr>
          <a:xfrm>
            <a:off x="404919" y="1061011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Product Browsing &amp; Ordering: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Customers can browse, search and filter on conditions through admin-approved products.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Location-Based Product Filtering with customers being able to view nearby farmers’ products on Google Maps externally.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Customers can add products to the cart and place orders with secure payments through </a:t>
            </a:r>
            <a:r>
              <a:rPr lang="en-GB" dirty="0" err="1">
                <a:solidFill>
                  <a:schemeClr val="bg1"/>
                </a:solidFill>
              </a:rPr>
              <a:t>PayHere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Customers are able to download a receipt related to their order.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After Ordering: 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Customers can check order status directly in the app as they are updated by farmers and admin.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UI updates dynamically.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Account Management: Customer can update their information they entered when registering (password also – if needed).</a:t>
            </a:r>
          </a:p>
        </p:txBody>
      </p:sp>
    </p:spTree>
    <p:extLst>
      <p:ext uri="{BB962C8B-B14F-4D97-AF65-F5344CB8AC3E}">
        <p14:creationId xmlns:p14="http://schemas.microsoft.com/office/powerpoint/2010/main" val="1648753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2FC7B-7008-CF79-CA61-501AE40EF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9720" y="1061011"/>
            <a:ext cx="4522923" cy="2026746"/>
          </a:xfrm>
        </p:spPr>
        <p:txBody>
          <a:bodyPr/>
          <a:lstStyle/>
          <a:p>
            <a:pPr algn="r"/>
            <a:r>
              <a:rPr lang="en-US" sz="4800" cap="none" dirty="0"/>
              <a:t>Key Features : Admin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A5CAB17-1347-44DC-91AB-5489F4AB9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905" y="294904"/>
            <a:ext cx="1674738" cy="4074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DC1BAC-975D-4461-B19A-D6FB7C950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322" y="2846963"/>
            <a:ext cx="3485321" cy="22297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B53A22-82DA-4AC7-A2F3-5A3C42D16C37}"/>
              </a:ext>
            </a:extLst>
          </p:cNvPr>
          <p:cNvSpPr txBox="1"/>
          <p:nvPr/>
        </p:nvSpPr>
        <p:spPr>
          <a:xfrm>
            <a:off x="404919" y="1933595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Admin Dashboard: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Centralized product and order management.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Product Approval System: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Admins review products marked as "Pending Approval“ as products can be approved (made visible to customers) or rejected. 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Order Monitoring: Admins have full control over order status updates.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Security Features for Admins: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Password less Email Authentication for Login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When accessing critical application process data fingerprint authorization is needed (biometric access control).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596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2FC7B-7008-CF79-CA61-501AE40EF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5643" y="942581"/>
            <a:ext cx="4104523" cy="1389802"/>
          </a:xfrm>
        </p:spPr>
        <p:txBody>
          <a:bodyPr/>
          <a:lstStyle/>
          <a:p>
            <a:pPr algn="r"/>
            <a:r>
              <a:rPr lang="en-US" sz="4800" cap="none" dirty="0"/>
              <a:t>Conclusion &amp; Takeaways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A5CAB17-1347-44DC-91AB-5489F4AB9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905" y="294904"/>
            <a:ext cx="1674738" cy="4074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DCEC0F-82EF-43C6-9C19-5215E84D5F24}"/>
              </a:ext>
            </a:extLst>
          </p:cNvPr>
          <p:cNvSpPr txBox="1"/>
          <p:nvPr/>
        </p:nvSpPr>
        <p:spPr>
          <a:xfrm>
            <a:off x="689113" y="1743383"/>
            <a:ext cx="622852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What was achieved?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A fully functional agricultural marketplace connecting farmers &amp; customers.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Benefits of </a:t>
            </a:r>
            <a:r>
              <a:rPr lang="en-GB" dirty="0" err="1">
                <a:solidFill>
                  <a:schemeClr val="bg1"/>
                </a:solidFill>
              </a:rPr>
              <a:t>Krushi</a:t>
            </a:r>
            <a:r>
              <a:rPr lang="en-GB" dirty="0">
                <a:solidFill>
                  <a:schemeClr val="bg1"/>
                </a:solidFill>
              </a:rPr>
              <a:t>-Connect: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For Farmers → Easy product listing, direct customer interaction, increased sales visibility.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For Customers → Seamless access to fresh, farm-direct products, real-time farmer contact.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For Admins → Efficient platform management with secure control over products, and orders.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Scalability: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The platform is designed for growth, with the upcoming enhancements such as AI-based pricing suggestions for farmers, Real-time chat support, Real-time delivery support, Multi-Language Support and more payment methods integrated.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AB7B6C-ED9D-4EBE-908C-9614EA95F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8475" y="2708964"/>
            <a:ext cx="3261691" cy="217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581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F5E16D3-4028-AA0C-A7D9-8AB40A055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5646" y="2938670"/>
            <a:ext cx="3680707" cy="636104"/>
          </a:xfrm>
        </p:spPr>
        <p:txBody>
          <a:bodyPr/>
          <a:lstStyle/>
          <a:p>
            <a:r>
              <a:rPr lang="en-US" dirty="0"/>
              <a:t>THANK-YOU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79044-2F18-3B35-893C-0B36C71E5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 dirty="0" err="1"/>
              <a:t>Krushi</a:t>
            </a:r>
            <a:r>
              <a:rPr lang="en-US" dirty="0"/>
              <a:t>-connect (by 44softwaresolutions)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45EAF7-A291-4FC0-975F-51562ECA4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308" y="3574774"/>
            <a:ext cx="2601384" cy="6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4521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">
  <a:themeElements>
    <a:clrScheme name="TM66931312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FF0000"/>
      </a:accent1>
      <a:accent2>
        <a:srgbClr val="F5EFE7"/>
      </a:accent2>
      <a:accent3>
        <a:srgbClr val="7B49E1"/>
      </a:accent3>
      <a:accent4>
        <a:srgbClr val="9AD7C7"/>
      </a:accent4>
      <a:accent5>
        <a:srgbClr val="237BFB"/>
      </a:accent5>
      <a:accent6>
        <a:srgbClr val="E9D7E7"/>
      </a:accent6>
      <a:hlink>
        <a:srgbClr val="FFFF00"/>
      </a:hlink>
      <a:folHlink>
        <a:srgbClr val="6BF0CD"/>
      </a:folHlink>
    </a:clrScheme>
    <a:fontScheme name="Custom 60">
      <a:majorFont>
        <a:latin typeface="MS PMincho"/>
        <a:ea typeface=""/>
        <a:cs typeface=""/>
      </a:majorFont>
      <a:minorFont>
        <a:latin typeface="Mangal"/>
        <a:ea typeface=""/>
        <a:cs typeface="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931312_Win32_SL_V3" id="{95AE7881-AB7F-4307-BAFF-D002B22B1082}" vid="{F008C54E-045F-456B-B872-F8E3CAF310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48AA7B-8093-4312-9C92-093E87B9931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A8E5EEF-D939-4E9B-B588-5A9B9A07F3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81D4CC6-3580-4AFF-ADAD-40005A217EE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Digital time capsule</Template>
  <TotalTime>659</TotalTime>
  <Words>902</Words>
  <Application>Microsoft Office PowerPoint</Application>
  <PresentationFormat>Widescreen</PresentationFormat>
  <Paragraphs>103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MS PMincho</vt:lpstr>
      <vt:lpstr>Arial</vt:lpstr>
      <vt:lpstr>Calibri</vt:lpstr>
      <vt:lpstr>Courier New</vt:lpstr>
      <vt:lpstr>Mangal</vt:lpstr>
      <vt:lpstr>Wingdings</vt:lpstr>
      <vt:lpstr>Custom</vt:lpstr>
      <vt:lpstr>INS TRUCTIONS</vt:lpstr>
      <vt:lpstr>Problem Statement</vt:lpstr>
      <vt:lpstr>Motivation</vt:lpstr>
      <vt:lpstr>Key  Objectives</vt:lpstr>
      <vt:lpstr>Technologies &amp; Architecture</vt:lpstr>
      <vt:lpstr>Technologies &amp; Architecture</vt:lpstr>
      <vt:lpstr>Key Features : Farmers</vt:lpstr>
      <vt:lpstr>Key Features : Customers</vt:lpstr>
      <vt:lpstr>Key Features : Admin</vt:lpstr>
      <vt:lpstr>Conclusion &amp; Takeaways</vt:lpstr>
      <vt:lpstr>THANK-YOU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 TRUCTIONS</dc:title>
  <dc:creator>Dilan Sachintha</dc:creator>
  <cp:lastModifiedBy>Dilan Sachintha</cp:lastModifiedBy>
  <cp:revision>7</cp:revision>
  <dcterms:created xsi:type="dcterms:W3CDTF">2025-02-27T13:32:37Z</dcterms:created>
  <dcterms:modified xsi:type="dcterms:W3CDTF">2026-04-14T09:38:49Z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